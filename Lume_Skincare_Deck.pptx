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48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280160"/>
            <a:ext cx="4389120" cy="4389120"/>
          </a:xfrm>
          <a:prstGeom prst="ellipse">
            <a:avLst/>
          </a:prstGeom>
          <a:solidFill>
            <a:srgbClr val="2B4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4114800"/>
            <a:ext cx="5029200" cy="502920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88575" y="4754880"/>
            <a:ext cx="4023360" cy="4023360"/>
          </a:xfrm>
          <a:prstGeom prst="ellipse">
            <a:avLst/>
          </a:prstGeom>
          <a:solidFill>
            <a:srgbClr val="2B4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8229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800" b="1">
                <a:solidFill>
                  <a:srgbClr val="FFFFFF"/>
                </a:solidFill>
                <a:latin typeface="Georgia"/>
              </a:rPr>
              <a:t>LUMÉ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56616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6FA8DC"/>
                </a:solidFill>
                <a:latin typeface="Helvetica Neue"/>
              </a:rPr>
              <a:t>Your face, understood.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29768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2F8FD"/>
                </a:solidFill>
                <a:latin typeface="Helvetica Neue"/>
              </a:rPr>
              <a:t>AI skincare diagnosis — from a single selfie to a regimen built for your skin.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035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6C4DE"/>
                </a:solidFill>
                <a:latin typeface="Helvetica Neue"/>
              </a:rPr>
              <a:t>Product &amp; Pitch Overview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A7FB5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2B4865"/>
                </a:solidFill>
                <a:latin typeface="Georgia"/>
              </a:rPr>
              <a:t>Skincare is guesswork — and it's expensive.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26060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2606040" cy="109728"/>
          </a:xfrm>
          <a:prstGeom prst="rect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78892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4A7FB5"/>
                </a:solidFill>
                <a:latin typeface="Georgia"/>
              </a:rPr>
              <a:t>$300+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65760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B4865"/>
                </a:solidFill>
                <a:latin typeface="Helvetica Neue"/>
              </a:rPr>
              <a:t>wasted per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2148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Shoppers buy by trend and packaging, not by what their skin actually needs.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3592" y="2377440"/>
            <a:ext cx="26060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93592" y="2377440"/>
            <a:ext cx="2606040" cy="109728"/>
          </a:xfrm>
          <a:prstGeom prst="rect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278892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4A7FB5"/>
                </a:solidFill>
                <a:latin typeface="Georgia"/>
              </a:rPr>
              <a:t>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2" y="365760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B4865"/>
                </a:solidFill>
                <a:latin typeface="Helvetica Neue"/>
              </a:rPr>
              <a:t>use the wrong actives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2" y="4160520"/>
            <a:ext cx="2148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Mismatched ingredients trigger irritation, breakouts, and wasted spend.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2377440"/>
            <a:ext cx="26060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64224" y="2377440"/>
            <a:ext cx="2606040" cy="109728"/>
          </a:xfrm>
          <a:prstGeom prst="rect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2824" y="278892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4A7FB5"/>
                </a:solidFill>
                <a:latin typeface="Georgia"/>
              </a:rPr>
              <a:t>1 in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2824" y="365760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B4865"/>
                </a:solidFill>
                <a:latin typeface="Helvetica Neue"/>
              </a:rPr>
              <a:t>have a sensitivity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4160520"/>
            <a:ext cx="2148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Allergens and reactive ingredients hide in plain sight on labels.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2377440"/>
            <a:ext cx="26060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34856" y="2377440"/>
            <a:ext cx="2606040" cy="109728"/>
          </a:xfrm>
          <a:prstGeom prst="rect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3456" y="278892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4A7FB5"/>
                </a:solidFill>
                <a:latin typeface="Georgia"/>
              </a:rPr>
              <a:t>Zero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365760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B4865"/>
                </a:solidFill>
                <a:latin typeface="Helvetica Neue"/>
              </a:rPr>
              <a:t>real diagnosis in-aisle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4160520"/>
            <a:ext cx="2148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A dermatologist visit is costly and slow; shelves offer no personalization.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A7A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48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FA8DC"/>
                </a:solidFill>
                <a:latin typeface="Helvetica Neue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A dermatologist-grade skin read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6FA8DC"/>
                </a:solidFill>
                <a:latin typeface="Georgia"/>
              </a:rPr>
              <a:t>in the time it takes to take a selfie.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2F8FD"/>
                </a:solidFill>
                <a:latin typeface="Helvetica Neue"/>
              </a:rPr>
              <a:t>LUMÉ turns one front-camera photo into a complete, personalized skincare regimen — analyzing your skin, accounting for your sensitivities, and recommending the exact products and the order to use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97680"/>
            <a:ext cx="2249424" cy="384048"/>
          </a:xfrm>
          <a:prstGeom prst="roundRect">
            <a:avLst/>
          </a:prstGeom>
          <a:solidFill>
            <a:srgbClr val="6C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2B4865"/>
                </a:solidFill>
                <a:latin typeface="Helvetica Neue"/>
              </a:rPr>
              <a:t>Instant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00984" y="4297680"/>
            <a:ext cx="3529584" cy="384048"/>
          </a:xfrm>
          <a:prstGeom prst="roundRect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2B4865"/>
                </a:solidFill>
                <a:latin typeface="Helvetica Neue"/>
              </a:rPr>
              <a:t>Personalized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59168" y="4297680"/>
            <a:ext cx="4809744" cy="384048"/>
          </a:xfrm>
          <a:prstGeom prst="roundRect">
            <a:avLst/>
          </a:prstGeom>
          <a:solidFill>
            <a:srgbClr val="BFE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2B4865"/>
                </a:solidFill>
                <a:latin typeface="Helvetica Neue"/>
              </a:rPr>
              <a:t>Sensitivity-aware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97512" y="4297680"/>
            <a:ext cx="4041648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2B4865"/>
                </a:solidFill>
                <a:latin typeface="Helvetica Neue"/>
              </a:rPr>
              <a:t>No appointment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A7A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A7FB5"/>
                </a:solidFill>
                <a:latin typeface="Helvetica Neue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B4865"/>
                </a:solidFill>
                <a:latin typeface="Georgia"/>
              </a:rPr>
              <a:t>Five steps. One selfie. Zero guesswork.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205740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2514600"/>
            <a:ext cx="777240" cy="77724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508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B4865"/>
                </a:solidFill>
                <a:latin typeface="Helvetica Neue"/>
              </a:rPr>
              <a:t>Take a selfie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1508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Guided front-camera capture with lighting checks.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9192" y="356616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4A7FB5"/>
                </a:solidFill>
                <a:latin typeface="Helvetica Neue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6352" y="2194560"/>
            <a:ext cx="205740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36392" y="2514600"/>
            <a:ext cx="777240" cy="777240"/>
          </a:xfrm>
          <a:prstGeom prst="ellipse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3520440"/>
            <a:ext cx="1508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B4865"/>
                </a:solidFill>
                <a:latin typeface="Helvetica Neue"/>
              </a:rPr>
              <a:t>Facial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4251960"/>
            <a:ext cx="1508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Computer vision maps 200+ facial zones.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356616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4A7FB5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4" y="2194560"/>
            <a:ext cx="205740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12664" y="2514600"/>
            <a:ext cx="777240" cy="777240"/>
          </a:xfrm>
          <a:prstGeom prst="ellipse">
            <a:avLst/>
          </a:prstGeom>
          <a:solidFill>
            <a:srgbClr val="6C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3520440"/>
            <a:ext cx="1508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B4865"/>
                </a:solidFill>
                <a:latin typeface="Helvetica Neue"/>
              </a:rPr>
              <a:t>Detect concerns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4" y="4251960"/>
            <a:ext cx="1508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Identify acne, redness, pores, lines, texture, tone.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1736" y="356616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4A7FB5"/>
                </a:solidFill>
                <a:latin typeface="Helvetica Neue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68896" y="2194560"/>
            <a:ext cx="205740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88936" y="2514600"/>
            <a:ext cx="777240" cy="777240"/>
          </a:xfrm>
          <a:prstGeom prst="ellipse">
            <a:avLst/>
          </a:prstGeom>
          <a:solidFill>
            <a:srgbClr val="BFE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2B4865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3520440"/>
            <a:ext cx="1508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B4865"/>
                </a:solidFill>
                <a:latin typeface="Helvetica Neue"/>
              </a:rPr>
              <a:t>Add sensitivities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6" y="4251960"/>
            <a:ext cx="1508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Flag allergens &amp; ingredients to avoid.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356616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4A7FB5"/>
                </a:solidFill>
                <a:latin typeface="Helvetica Neue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45168" y="2194560"/>
            <a:ext cx="205740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65208" y="2514600"/>
            <a:ext cx="777240" cy="777240"/>
          </a:xfrm>
          <a:prstGeom prst="ellipse">
            <a:avLst/>
          </a:prstGeom>
          <a:solidFill>
            <a:srgbClr val="2B4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9488" y="3520440"/>
            <a:ext cx="1508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B4865"/>
                </a:solidFill>
                <a:latin typeface="Helvetica Neue"/>
              </a:rPr>
              <a:t>Get your regimen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488" y="4251960"/>
            <a:ext cx="1508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A ranked AM/PM routine matched to your skin.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5855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A7A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B4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FA8DC"/>
                </a:solidFill>
                <a:latin typeface="Helvetica Neue"/>
              </a:rPr>
              <a:t>STEP 1 —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2918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0" b="1">
                <a:solidFill>
                  <a:srgbClr val="3C5E82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8FD"/>
                </a:solidFill>
                <a:latin typeface="Helvetica Neue"/>
              </a:rPr>
              <a:t>No forms. No quizzes. Just look at your phone.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005840"/>
            <a:ext cx="6858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B4865"/>
                </a:solidFill>
                <a:latin typeface="Georgia"/>
              </a:rPr>
              <a:t>A selfie is the only input</a:t>
            </a:r>
          </a:p>
        </p:txBody>
      </p:sp>
      <p:sp>
        <p:nvSpPr>
          <p:cNvPr id="8" name="Oval 7"/>
          <p:cNvSpPr/>
          <p:nvPr/>
        </p:nvSpPr>
        <p:spPr>
          <a:xfrm>
            <a:off x="4663440" y="2359152"/>
            <a:ext cx="146304" cy="146304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228600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B4865"/>
                </a:solidFill>
                <a:latin typeface="Helvetica Neue"/>
              </a:rPr>
              <a:t>Guided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670048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A7A"/>
                </a:solidFill>
                <a:latin typeface="Helvetica Neue"/>
              </a:rPr>
              <a:t>On-screen framing, lighting, and distance checks ensure a clean, analyzable image every time.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3291840"/>
            <a:ext cx="146304" cy="146304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3218688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B4865"/>
                </a:solidFill>
                <a:latin typeface="Helvetica Neue"/>
              </a:rPr>
              <a:t>Works on any 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602736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A7A"/>
                </a:solidFill>
                <a:latin typeface="Helvetica Neue"/>
              </a:rPr>
              <a:t>Standard front camera — no special hardware, attachments, or lab kit required.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4224528"/>
            <a:ext cx="146304" cy="146304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4151376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B4865"/>
                </a:solidFill>
                <a:latin typeface="Helvetica Neue"/>
              </a:rPr>
              <a:t>Private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535424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A7A"/>
                </a:solidFill>
                <a:latin typeface="Helvetica Neue"/>
              </a:rPr>
              <a:t>Images are processed securely and never sold; users control retention and deletion.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5157216"/>
            <a:ext cx="146304" cy="146304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5084064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B4865"/>
                </a:solidFill>
                <a:latin typeface="Helvetica Neue"/>
              </a:rPr>
              <a:t>3 seconds to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5468112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A7A"/>
                </a:solidFill>
                <a:latin typeface="Helvetica Neue"/>
              </a:rPr>
              <a:t>From shutter to analysis, the experience feels instant and effortless.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A7A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B4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A7FB5"/>
                </a:solidFill>
                <a:latin typeface="Helvetica Neue"/>
              </a:rPr>
              <a:t>STEP 2 —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2918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0" b="1">
                <a:solidFill>
                  <a:srgbClr val="3C5E82"/>
                </a:solidFill>
                <a:latin typeface="Georg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8FD"/>
                </a:solidFill>
                <a:latin typeface="Helvetica Neue"/>
              </a:rPr>
              <a:t>Computer vision reads the skin the way a clinician's eye would.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005840"/>
            <a:ext cx="6858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B4865"/>
                </a:solidFill>
                <a:latin typeface="Georgia"/>
              </a:rPr>
              <a:t>Automatic facial analysis</a:t>
            </a:r>
          </a:p>
        </p:txBody>
      </p:sp>
      <p:sp>
        <p:nvSpPr>
          <p:cNvPr id="8" name="Oval 7"/>
          <p:cNvSpPr/>
          <p:nvPr/>
        </p:nvSpPr>
        <p:spPr>
          <a:xfrm>
            <a:off x="4663440" y="2359152"/>
            <a:ext cx="146304" cy="146304"/>
          </a:xfrm>
          <a:prstGeom prst="ellipse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228600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B4865"/>
                </a:solidFill>
                <a:latin typeface="Helvetica Neue"/>
              </a:rPr>
              <a:t>200+ facial landmarks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670048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A7A"/>
                </a:solidFill>
                <a:latin typeface="Helvetica Neue"/>
              </a:rPr>
              <a:t>We segment the face into zones — forehead, cheeks, T-zone, under-eye, jawline.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3291840"/>
            <a:ext cx="146304" cy="146304"/>
          </a:xfrm>
          <a:prstGeom prst="ellipse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3218688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B4865"/>
                </a:solidFill>
                <a:latin typeface="Helvetica Neue"/>
              </a:rPr>
              <a:t>Multi-signal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602736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A7A"/>
                </a:solidFill>
                <a:latin typeface="Helvetica Neue"/>
              </a:rPr>
              <a:t>Texture, tone, oiliness, hydration, and pigmentation are scored per zone.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4224528"/>
            <a:ext cx="146304" cy="146304"/>
          </a:xfrm>
          <a:prstGeom prst="ellipse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4151376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B4865"/>
                </a:solidFill>
                <a:latin typeface="Helvetica Neue"/>
              </a:rPr>
              <a:t>Calibrated for lighting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535424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A7A"/>
                </a:solidFill>
                <a:latin typeface="Helvetica Neue"/>
              </a:rPr>
              <a:t>Color-correction normalizes for ambient light and camera differences.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5157216"/>
            <a:ext cx="146304" cy="146304"/>
          </a:xfrm>
          <a:prstGeom prst="ellipse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5084064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B4865"/>
                </a:solidFill>
                <a:latin typeface="Helvetica Neue"/>
              </a:rPr>
              <a:t>Trained on diverse skin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5468112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A7A"/>
                </a:solidFill>
                <a:latin typeface="Helvetica Neue"/>
              </a:rPr>
              <a:t>Models validated across skin tones, ages, and conditions to reduce bias.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A7A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B4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C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CB4C4"/>
                </a:solidFill>
                <a:latin typeface="Helvetica Neue"/>
              </a:rPr>
              <a:t>STEP 3 — CONCERNS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2918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0" b="1">
                <a:solidFill>
                  <a:srgbClr val="3C5E82"/>
                </a:solidFill>
                <a:latin typeface="Georgi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8FD"/>
                </a:solidFill>
                <a:latin typeface="Helvetica Neue"/>
              </a:rPr>
              <a:t>We translate pixels into the concerns people actually care about.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005840"/>
            <a:ext cx="6858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B4865"/>
                </a:solidFill>
                <a:latin typeface="Georgia"/>
              </a:rPr>
              <a:t>Recognition of skin concerns</a:t>
            </a:r>
          </a:p>
        </p:txBody>
      </p:sp>
      <p:sp>
        <p:nvSpPr>
          <p:cNvPr id="8" name="Oval 7"/>
          <p:cNvSpPr/>
          <p:nvPr/>
        </p:nvSpPr>
        <p:spPr>
          <a:xfrm>
            <a:off x="4663440" y="2359152"/>
            <a:ext cx="146304" cy="146304"/>
          </a:xfrm>
          <a:prstGeom prst="ellipse">
            <a:avLst/>
          </a:prstGeom>
          <a:solidFill>
            <a:srgbClr val="6C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228600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B4865"/>
                </a:solidFill>
                <a:latin typeface="Helvetica Neue"/>
              </a:rPr>
              <a:t>Detects what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670048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A7A"/>
                </a:solidFill>
                <a:latin typeface="Helvetica Neue"/>
              </a:rPr>
              <a:t>Acne, redness, enlarged pores, fine lines, dark spots, uneven texture &amp; tone.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3291840"/>
            <a:ext cx="146304" cy="146304"/>
          </a:xfrm>
          <a:prstGeom prst="ellipse">
            <a:avLst/>
          </a:prstGeom>
          <a:solidFill>
            <a:srgbClr val="6C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3218688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B4865"/>
                </a:solidFill>
                <a:latin typeface="Helvetica Neue"/>
              </a:rPr>
              <a:t>Severity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602736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A7A"/>
                </a:solidFill>
                <a:latin typeface="Helvetica Neue"/>
              </a:rPr>
              <a:t>Each concern is rated and ranked so the routine targets the biggest wins first.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4224528"/>
            <a:ext cx="146304" cy="146304"/>
          </a:xfrm>
          <a:prstGeom prst="ellipse">
            <a:avLst/>
          </a:prstGeom>
          <a:solidFill>
            <a:srgbClr val="6C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4151376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B4865"/>
                </a:solidFill>
                <a:latin typeface="Helvetica Neue"/>
              </a:rPr>
              <a:t>Visual skin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535424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A7A"/>
                </a:solidFill>
                <a:latin typeface="Helvetica Neue"/>
              </a:rPr>
              <a:t>Users see exactly where each concern appears — on their own face.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5157216"/>
            <a:ext cx="146304" cy="146304"/>
          </a:xfrm>
          <a:prstGeom prst="ellipse">
            <a:avLst/>
          </a:prstGeom>
          <a:solidFill>
            <a:srgbClr val="6C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5084064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B4865"/>
                </a:solidFill>
                <a:latin typeface="Helvetica Neue"/>
              </a:rPr>
              <a:t>Progress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5468112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A7A"/>
                </a:solidFill>
                <a:latin typeface="Helvetica Neue"/>
              </a:rPr>
              <a:t>Re-scan over time to watch concerns improve and measure what's working.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A7A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B4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FE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FE0F5"/>
                </a:solidFill>
                <a:latin typeface="Helvetica Neue"/>
              </a:rPr>
              <a:t>STEP 4 — SENSITIVITIES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2918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0" b="1">
                <a:solidFill>
                  <a:srgbClr val="3C5E82"/>
                </a:solidFill>
                <a:latin typeface="Georgia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8FD"/>
                </a:solidFill>
                <a:latin typeface="Helvetica Neue"/>
              </a:rPr>
              <a:t>Personalization that protects, not just prescribes.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005840"/>
            <a:ext cx="6858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B4865"/>
                </a:solidFill>
                <a:latin typeface="Georgia"/>
              </a:rPr>
              <a:t>Input of product sensitivities</a:t>
            </a:r>
          </a:p>
        </p:txBody>
      </p:sp>
      <p:sp>
        <p:nvSpPr>
          <p:cNvPr id="8" name="Oval 7"/>
          <p:cNvSpPr/>
          <p:nvPr/>
        </p:nvSpPr>
        <p:spPr>
          <a:xfrm>
            <a:off x="4663440" y="2359152"/>
            <a:ext cx="146304" cy="146304"/>
          </a:xfrm>
          <a:prstGeom prst="ellipse">
            <a:avLst/>
          </a:prstGeom>
          <a:solidFill>
            <a:srgbClr val="BFE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228600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B4865"/>
                </a:solidFill>
                <a:latin typeface="Helvetica Neue"/>
              </a:rPr>
              <a:t>Flag known reactions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670048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A7A"/>
                </a:solidFill>
                <a:latin typeface="Helvetica Neue"/>
              </a:rPr>
              <a:t>Fragrance, alcohol, retinoids, acids, essential oils, and specific allergens.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3291840"/>
            <a:ext cx="146304" cy="146304"/>
          </a:xfrm>
          <a:prstGeom prst="ellipse">
            <a:avLst/>
          </a:prstGeom>
          <a:solidFill>
            <a:srgbClr val="BFE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3218688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B4865"/>
                </a:solidFill>
                <a:latin typeface="Helvetica Neue"/>
              </a:rPr>
              <a:t>Smart ingredient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602736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A7A"/>
                </a:solidFill>
                <a:latin typeface="Helvetica Neue"/>
              </a:rPr>
              <a:t>Every recommendation is screened against the user's avoid-list.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4224528"/>
            <a:ext cx="146304" cy="146304"/>
          </a:xfrm>
          <a:prstGeom prst="ellipse">
            <a:avLst/>
          </a:prstGeom>
          <a:solidFill>
            <a:srgbClr val="BFE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4151376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B4865"/>
                </a:solidFill>
                <a:latin typeface="Helvetica Neue"/>
              </a:rPr>
              <a:t>Pregnancy &amp; condition safe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535424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A7A"/>
                </a:solidFill>
                <a:latin typeface="Helvetica Neue"/>
              </a:rPr>
              <a:t>Surfaces flags for rosacea, eczema, and other context-specific needs.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5157216"/>
            <a:ext cx="146304" cy="146304"/>
          </a:xfrm>
          <a:prstGeom prst="ellipse">
            <a:avLst/>
          </a:prstGeom>
          <a:solidFill>
            <a:srgbClr val="BFE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5084064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B4865"/>
                </a:solidFill>
                <a:latin typeface="Helvetica Neue"/>
              </a:rPr>
              <a:t>Conflict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5468112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A7A"/>
                </a:solidFill>
                <a:latin typeface="Helvetica Neue"/>
              </a:rPr>
              <a:t>Warns when two products shouldn't be layered together.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A7A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B4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FA8DC"/>
                </a:solidFill>
                <a:latin typeface="Helvetica Neue"/>
              </a:rPr>
              <a:t>STEP 5 — REGIMEN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2918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0" b="1">
                <a:solidFill>
                  <a:srgbClr val="3C5E82"/>
                </a:solidFill>
                <a:latin typeface="Georgi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8FD"/>
                </a:solidFill>
                <a:latin typeface="Helvetica Neue"/>
              </a:rPr>
              <a:t>A complete routine — products, order, and timing.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005840"/>
            <a:ext cx="6858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B4865"/>
                </a:solidFill>
                <a:latin typeface="Georgia"/>
              </a:rPr>
              <a:t>Personalized regimen</a:t>
            </a:r>
          </a:p>
        </p:txBody>
      </p:sp>
      <p:sp>
        <p:nvSpPr>
          <p:cNvPr id="8" name="Oval 7"/>
          <p:cNvSpPr/>
          <p:nvPr/>
        </p:nvSpPr>
        <p:spPr>
          <a:xfrm>
            <a:off x="4663440" y="2359152"/>
            <a:ext cx="146304" cy="146304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228600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B4865"/>
                </a:solidFill>
                <a:latin typeface="Helvetica Neue"/>
              </a:rPr>
              <a:t>Ranked product matches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670048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A7A"/>
                </a:solidFill>
                <a:latin typeface="Helvetica Neue"/>
              </a:rPr>
              <a:t>Specific products matched to concerns, budget, and sensitivities.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3291840"/>
            <a:ext cx="146304" cy="146304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3218688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B4865"/>
                </a:solidFill>
                <a:latin typeface="Helvetica Neue"/>
              </a:rPr>
              <a:t>AM &amp; PM routines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602736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A7A"/>
                </a:solidFill>
                <a:latin typeface="Helvetica Neue"/>
              </a:rPr>
              <a:t>Step-by-step order of application, with frequency guidance.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4224528"/>
            <a:ext cx="146304" cy="146304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4151376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B4865"/>
                </a:solidFill>
                <a:latin typeface="Helvetica Neue"/>
              </a:rPr>
              <a:t>Why each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535424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A7A"/>
                </a:solidFill>
                <a:latin typeface="Helvetica Neue"/>
              </a:rPr>
              <a:t>Plain-language reasoning so users trust and stick with the routine.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5157216"/>
            <a:ext cx="146304" cy="146304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5084064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B4865"/>
                </a:solidFill>
                <a:latin typeface="Helvetica Neue"/>
              </a:rPr>
              <a:t>Reorder &amp; restock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5468112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A7A"/>
                </a:solidFill>
                <a:latin typeface="Helvetica Neue"/>
              </a:rPr>
              <a:t>One tap to buy, with reminders timed to when product runs 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A7A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A7FB5"/>
                </a:solidFill>
                <a:latin typeface="Helvetica Neue"/>
              </a:rPr>
              <a:t>THE DATA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B4865"/>
                </a:solidFill>
                <a:latin typeface="Georgia"/>
              </a:rPr>
              <a:t>Recommendations grounded in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A6A7A"/>
                </a:solidFill>
                <a:latin typeface="Helvetica Neue"/>
              </a:rPr>
              <a:t>Every ingredient we recommend is backed by an automatically-built knowledge base. Our literature-ingestion pipeline reads a product's ingredient list and enriches each ingredient with chemical data and peer-reviewed evidence — no manual data entry.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00400"/>
            <a:ext cx="26060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" y="3474720"/>
            <a:ext cx="457200" cy="91440"/>
          </a:xfrm>
          <a:prstGeom prst="rect">
            <a:avLst/>
          </a:prstGeom>
          <a:solidFill>
            <a:srgbClr val="6C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657600"/>
            <a:ext cx="2148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B4865"/>
                </a:solidFill>
                <a:latin typeface="Helvetica Neue"/>
              </a:rPr>
              <a:t>Self-building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Point it at any product label and the knowledge base grows itself.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3592" y="3200400"/>
            <a:ext cx="26060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22192" y="3474720"/>
            <a:ext cx="457200" cy="91440"/>
          </a:xfrm>
          <a:prstGeom prst="rect">
            <a:avLst/>
          </a:prstGeom>
          <a:solidFill>
            <a:srgbClr val="6C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3657600"/>
            <a:ext cx="2148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B4865"/>
                </a:solidFill>
                <a:latin typeface="Helvetica Neue"/>
              </a:rPr>
              <a:t>Evidence-backed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2" y="438912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Each ingredient links to PubMed studies and PubChem chemical descriptors.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3200400"/>
            <a:ext cx="26060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92824" y="3474720"/>
            <a:ext cx="457200" cy="91440"/>
          </a:xfrm>
          <a:prstGeom prst="rect">
            <a:avLst/>
          </a:prstGeom>
          <a:solidFill>
            <a:srgbClr val="6C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2824" y="3657600"/>
            <a:ext cx="2148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B4865"/>
                </a:solidFill>
                <a:latin typeface="Helvetica Neue"/>
              </a:rPr>
              <a:t>Deduplicated &amp; canonical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438912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INCI names are normalized and matched so every compound is stored once.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3200400"/>
            <a:ext cx="26060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63456" y="3474720"/>
            <a:ext cx="457200" cy="91440"/>
          </a:xfrm>
          <a:prstGeom prst="rect">
            <a:avLst/>
          </a:prstGeom>
          <a:solidFill>
            <a:srgbClr val="6C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3456" y="3657600"/>
            <a:ext cx="2148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B4865"/>
                </a:solidFill>
                <a:latin typeface="Helvetica Neue"/>
              </a:rPr>
              <a:t>Compounding moat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6" y="438912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The more products ingested, the smarter every recommendation becomes.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A7A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48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FA8DC"/>
                </a:solidFill>
                <a:latin typeface="Helvetica Neue"/>
              </a:rPr>
              <a:t>AUTOMATIC LITERATURE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From an ingredient list to a living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2514600" cy="2743200"/>
          </a:xfrm>
          <a:prstGeom prst="roundRect">
            <a:avLst/>
          </a:prstGeom>
          <a:solidFill>
            <a:srgbClr val="39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2743200"/>
            <a:ext cx="640080" cy="64008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20440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Helvetica Neue"/>
              </a:rPr>
              <a:t>Parse INCI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60520"/>
            <a:ext cx="1965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2F8FD"/>
                </a:solidFill>
                <a:latin typeface="Helvetica Neue"/>
              </a:rPr>
              <a:t>Split &amp; normalize the raw ingredient declaration into ordered, deduped ingredients.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0984" y="347472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6FA8DC"/>
                </a:solidFill>
                <a:latin typeface="Helvetica Neue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468880"/>
            <a:ext cx="2514600" cy="2743200"/>
          </a:xfrm>
          <a:prstGeom prst="roundRect">
            <a:avLst/>
          </a:prstGeom>
          <a:solidFill>
            <a:srgbClr val="39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94760" y="2743200"/>
            <a:ext cx="640080" cy="640080"/>
          </a:xfrm>
          <a:prstGeom prst="ellipse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520440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Helvetica Neue"/>
              </a:rPr>
              <a:t>Resolve compound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160520"/>
            <a:ext cx="1965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2F8FD"/>
                </a:solidFill>
                <a:latin typeface="Helvetica Neue"/>
              </a:rPr>
              <a:t>Match each ingredient to a canonical compound — or create it — via INCI + aliases.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8464" y="347472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6FA8DC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468880"/>
            <a:ext cx="2514600" cy="2743200"/>
          </a:xfrm>
          <a:prstGeom prst="roundRect">
            <a:avLst/>
          </a:prstGeom>
          <a:solidFill>
            <a:srgbClr val="39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0" y="2743200"/>
            <a:ext cx="640080" cy="640080"/>
          </a:xfrm>
          <a:prstGeom prst="ellipse">
            <a:avLst/>
          </a:prstGeom>
          <a:solidFill>
            <a:srgbClr val="6C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520440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Helvetica Neue"/>
              </a:rPr>
              <a:t>Enrich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60520"/>
            <a:ext cx="1965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2F8FD"/>
                </a:solidFill>
                <a:latin typeface="Helvetica Neue"/>
              </a:rPr>
              <a:t>Pull INCI properties, PubChem chemical descriptors, and PubMed research articles.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95944" y="347472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6FA8DC"/>
                </a:solidFill>
                <a:latin typeface="Helvetica Neue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468880"/>
            <a:ext cx="2514600" cy="2743200"/>
          </a:xfrm>
          <a:prstGeom prst="roundRect">
            <a:avLst/>
          </a:prstGeom>
          <a:solidFill>
            <a:srgbClr val="39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89720" y="2743200"/>
            <a:ext cx="640080" cy="640080"/>
          </a:xfrm>
          <a:prstGeom prst="ellipse">
            <a:avLst/>
          </a:prstGeom>
          <a:solidFill>
            <a:srgbClr val="BFE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2B4865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520440"/>
            <a:ext cx="1965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Helvetica Neue"/>
              </a:rPr>
              <a:t>Status &amp;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160520"/>
            <a:ext cx="1965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2F8FD"/>
                </a:solidFill>
                <a:latin typeface="Helvetica Neue"/>
              </a:rPr>
              <a:t>Track enrichment state (complete / partial / review) and persist the linked graph.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4DDF0"/>
                </a:solidFill>
                <a:latin typeface="Helvetica Neue"/>
              </a:rPr>
              <a:t>Built today — a Django pipeline (formulation_ingest) that turns any product label into structured, evidence-linked ingredient data, fully tested.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A7A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48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FA8DC"/>
                </a:solidFill>
                <a:latin typeface="Helvetica Neue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Georgia"/>
              </a:rPr>
              <a:t>The intelligence behind the glow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2606040" cy="2926080"/>
          </a:xfrm>
          <a:prstGeom prst="roundRect">
            <a:avLst/>
          </a:prstGeom>
          <a:solidFill>
            <a:srgbClr val="39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514600"/>
            <a:ext cx="548640" cy="109728"/>
          </a:xfrm>
          <a:prstGeom prst="rect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2057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8FD"/>
                </a:solidFill>
                <a:latin typeface="Helvetica Neue"/>
              </a:rPr>
              <a:t>Facial segmentation &amp; dermatological feature detection on-device + cloud.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194560"/>
            <a:ext cx="2606040" cy="2926080"/>
          </a:xfrm>
          <a:prstGeom prst="roundRect">
            <a:avLst/>
          </a:prstGeom>
          <a:solidFill>
            <a:srgbClr val="39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86200" y="2514600"/>
            <a:ext cx="548640" cy="109728"/>
          </a:xfrm>
          <a:prstGeom prst="rect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274320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520440"/>
            <a:ext cx="2057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8FD"/>
                </a:solidFill>
                <a:latin typeface="Helvetica Neue"/>
              </a:rPr>
              <a:t>Ingredient graph linking 10k+ products to actives, concerns &amp; conflicts.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94560"/>
            <a:ext cx="2606040" cy="2926080"/>
          </a:xfrm>
          <a:prstGeom prst="roundRect">
            <a:avLst/>
          </a:prstGeom>
          <a:solidFill>
            <a:srgbClr val="39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2514600"/>
            <a:ext cx="548640" cy="109728"/>
          </a:xfrm>
          <a:prstGeom prst="rect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74320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520440"/>
            <a:ext cx="2057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8FD"/>
                </a:solidFill>
                <a:latin typeface="Helvetica Neue"/>
              </a:rPr>
              <a:t>Ranking engine scores products against the user's skin profile &amp; avoid-list.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2194560"/>
            <a:ext cx="2606040" cy="2926080"/>
          </a:xfrm>
          <a:prstGeom prst="roundRect">
            <a:avLst/>
          </a:prstGeom>
          <a:solidFill>
            <a:srgbClr val="39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64040" y="2514600"/>
            <a:ext cx="548640" cy="109728"/>
          </a:xfrm>
          <a:prstGeom prst="rect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274320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Reasoning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3520440"/>
            <a:ext cx="2057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8FD"/>
                </a:solidFill>
                <a:latin typeface="Helvetica Neue"/>
              </a:rPr>
              <a:t>LLM generates clear, personalized explanations and routine guidance.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A7A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A7FB5"/>
                </a:solidFill>
                <a:latin typeface="Helvetica Neue"/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2B4865"/>
                </a:solidFill>
                <a:latin typeface="Georgia"/>
              </a:rPr>
              <a:t>A massive market hungry for personalization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33832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3383280" cy="128016"/>
          </a:xfrm>
          <a:prstGeom prst="rect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4A7FB5"/>
                </a:solidFill>
                <a:latin typeface="Georgia"/>
              </a:rPr>
              <a:t>$190B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A6A7A"/>
                </a:solidFill>
                <a:latin typeface="Helvetica Neue"/>
              </a:rPr>
              <a:t>Global skincare market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286000"/>
            <a:ext cx="33832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2286000"/>
            <a:ext cx="3383280" cy="128016"/>
          </a:xfrm>
          <a:prstGeom prst="rect">
            <a:avLst/>
          </a:prstGeom>
          <a:solidFill>
            <a:srgbClr val="6C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7432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6CB4C4"/>
                </a:solidFill>
                <a:latin typeface="Georgia"/>
              </a:rPr>
              <a:t>$13B+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79476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A6A7A"/>
                </a:solidFill>
                <a:latin typeface="Helvetica Neue"/>
              </a:rPr>
              <a:t>Beauty-tech &amp; diagnostics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286000"/>
            <a:ext cx="33832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2286000"/>
            <a:ext cx="3383280" cy="128016"/>
          </a:xfrm>
          <a:prstGeom prst="rect">
            <a:avLst/>
          </a:prstGeom>
          <a:solidFill>
            <a:srgbClr val="BFE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74320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BFE0F5"/>
                </a:solidFill>
                <a:latin typeface="Georgia"/>
              </a:rPr>
              <a:t>28%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79476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A6A7A"/>
                </a:solidFill>
                <a:latin typeface="Helvetica Neue"/>
              </a:rPr>
              <a:t>Annual growth in AI beauty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B4865"/>
                </a:solidFill>
                <a:latin typeface="Helvetica Neue"/>
              </a:rPr>
              <a:t>Consumers already shop for skincare online and crave guidance. LUMÉ captures intent at the exact moment of decision — turning diagnosis into purchase.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A7A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48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FA8DC"/>
                </a:solidFill>
                <a:latin typeface="Helvetica Neue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Georgia"/>
              </a:rPr>
              <a:t>Three ways to monetize one selfie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3383280" cy="2743200"/>
          </a:xfrm>
          <a:prstGeom prst="roundRect">
            <a:avLst/>
          </a:prstGeom>
          <a:solidFill>
            <a:srgbClr val="39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697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6FA8DC"/>
                </a:solidFill>
                <a:latin typeface="Helvetica Neu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1546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Georgia"/>
              </a:rPr>
              <a:t>Affiliate &amp; 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3192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8FD"/>
                </a:solidFill>
                <a:latin typeface="Helvetica Neue"/>
              </a:rPr>
              <a:t>Revenue share on recommended products users buy in-app.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286000"/>
            <a:ext cx="3383280" cy="2743200"/>
          </a:xfrm>
          <a:prstGeom prst="roundRect">
            <a:avLst/>
          </a:prstGeom>
          <a:solidFill>
            <a:srgbClr val="39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697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6FA8DC"/>
                </a:solidFill>
                <a:latin typeface="Helvetica Neue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1546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Georgia"/>
              </a:rPr>
              <a:t>Premium subscription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93192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8FD"/>
                </a:solidFill>
                <a:latin typeface="Helvetica Neue"/>
              </a:rPr>
              <a:t>Progress tracking, unlimited re-scans, and pro routines.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286000"/>
            <a:ext cx="3383280" cy="2743200"/>
          </a:xfrm>
          <a:prstGeom prst="roundRect">
            <a:avLst/>
          </a:prstGeom>
          <a:solidFill>
            <a:srgbClr val="39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697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6FA8DC"/>
                </a:solidFill>
                <a:latin typeface="Helvetica Neue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1546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Georgia"/>
              </a:rPr>
              <a:t>Brand partnerships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93192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2F8FD"/>
                </a:solidFill>
                <a:latin typeface="Helvetica Neue"/>
              </a:rPr>
              <a:t>Sponsored placement and anonymized skin-trend insights for brands.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A7A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A7FB5"/>
                </a:solidFill>
                <a:latin typeface="Helvetica Neue"/>
              </a:rPr>
              <a:t>WHY WE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B4865"/>
                </a:solidFill>
                <a:latin typeface="Georgia"/>
              </a:rPr>
              <a:t>Diagnosis + sensitivity + commerce — in one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A6A7A"/>
                </a:solidFill>
                <a:latin typeface="Helvetica Neue"/>
              </a:rP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916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A7FB5"/>
                </a:solidFill>
                <a:latin typeface="Helvetica Neue"/>
              </a:rPr>
              <a:t>LUMÉ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6916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A6A7A"/>
                </a:solidFill>
                <a:latin typeface="Helvetica Neue"/>
              </a:rPr>
              <a:t>Typical apps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1088136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B4865"/>
                </a:solidFill>
                <a:latin typeface="Helvetica Neue"/>
              </a:rPr>
              <a:t>Selfie-based 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6CB4C4"/>
                </a:solidFill>
                <a:latin typeface="Helvetica Neue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3225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Quizzes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6265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B4865"/>
                </a:solidFill>
                <a:latin typeface="Helvetica Neue"/>
              </a:rPr>
              <a:t>Sensitivity-aware 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94436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6CB4C4"/>
                </a:solidFill>
                <a:latin typeface="Helvetica Neue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98094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Generic suggestions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11296"/>
            <a:ext cx="1088136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21024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B4865"/>
                </a:solidFill>
                <a:latin typeface="Helvetica Neue"/>
              </a:rPr>
              <a:t>Per-zone severity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602736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6CB4C4"/>
                </a:solidFill>
                <a:latin typeface="Helvetica Neue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63931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One-size scores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93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B4865"/>
                </a:solidFill>
                <a:latin typeface="Helvetica Neue"/>
              </a:rPr>
              <a:t>Routine order &amp; reasoning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261104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6CB4C4"/>
                </a:solidFill>
                <a:latin typeface="Helvetica Neue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2976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Product lists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28032"/>
            <a:ext cx="1088136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B4865"/>
                </a:solidFill>
                <a:latin typeface="Helvetica Neue"/>
              </a:rPr>
              <a:t>Progress re-scans over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919472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6CB4C4"/>
                </a:solidFill>
                <a:latin typeface="Helvetica Neue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95604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No follow-up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5855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A7A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A7FB5"/>
                </a:solidFill>
                <a:latin typeface="Helvetica Neue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2B4865"/>
                </a:solidFill>
                <a:latin typeface="Georgia"/>
              </a:rPr>
              <a:t>Where we're headed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71800"/>
            <a:ext cx="10332720" cy="54864"/>
          </a:xfrm>
          <a:prstGeom prst="rect">
            <a:avLst/>
          </a:prstGeom>
          <a:solidFill>
            <a:srgbClr val="2B4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37360" y="2788920"/>
            <a:ext cx="411480" cy="41148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6FA8DC"/>
                </a:solidFill>
                <a:latin typeface="Helvetica Neue"/>
              </a:rPr>
              <a:t>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474720"/>
            <a:ext cx="25146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70332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B4865"/>
                </a:solidFill>
                <a:latin typeface="Helvetica Neue"/>
              </a:rPr>
              <a:t>Core flow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297680"/>
            <a:ext cx="2057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Selfie → analysis → concerns → sensitivities → regimen.</a:t>
            </a:r>
          </a:p>
        </p:txBody>
      </p:sp>
      <p:sp>
        <p:nvSpPr>
          <p:cNvPr id="10" name="Oval 9"/>
          <p:cNvSpPr/>
          <p:nvPr/>
        </p:nvSpPr>
        <p:spPr>
          <a:xfrm>
            <a:off x="4434840" y="2788920"/>
            <a:ext cx="411480" cy="411480"/>
          </a:xfrm>
          <a:prstGeom prst="ellipse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1031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4A7FB5"/>
                </a:solidFill>
                <a:latin typeface="Helvetica Neue"/>
              </a:rPr>
              <a:t>NEXT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474720"/>
            <a:ext cx="25146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370332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B4865"/>
                </a:solidFill>
                <a:latin typeface="Helvetica Neue"/>
              </a:rPr>
              <a:t>Tracking &amp; commerce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297680"/>
            <a:ext cx="2057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Progress re-scans, in-app checkout, restock reminders.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0" y="2788920"/>
            <a:ext cx="411480" cy="411480"/>
          </a:xfrm>
          <a:prstGeom prst="ellipse">
            <a:avLst/>
          </a:prstGeom>
          <a:solidFill>
            <a:srgbClr val="6C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1031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6CB4C4"/>
                </a:solidFill>
                <a:latin typeface="Helvetica Neue"/>
              </a:rPr>
              <a:t>SOON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74720"/>
            <a:ext cx="25146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70332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B4865"/>
                </a:solidFill>
                <a:latin typeface="Helvetica Neue"/>
              </a:rPr>
              <a:t>Body &amp; brands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297680"/>
            <a:ext cx="2057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Expand beyond face; brand partner portal &amp; insights.</a:t>
            </a:r>
          </a:p>
        </p:txBody>
      </p:sp>
      <p:sp>
        <p:nvSpPr>
          <p:cNvPr id="20" name="Oval 19"/>
          <p:cNvSpPr/>
          <p:nvPr/>
        </p:nvSpPr>
        <p:spPr>
          <a:xfrm>
            <a:off x="9829800" y="2788920"/>
            <a:ext cx="411480" cy="411480"/>
          </a:xfrm>
          <a:prstGeom prst="ellipse">
            <a:avLst/>
          </a:prstGeom>
          <a:solidFill>
            <a:srgbClr val="BFE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21031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FE0F5"/>
                </a:solidFill>
                <a:latin typeface="Helvetica Neue"/>
              </a:rPr>
              <a:t>FUTURE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3474720"/>
            <a:ext cx="25146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370332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B4865"/>
                </a:solidFill>
                <a:latin typeface="Helvetica Neue"/>
              </a:rPr>
              <a:t>Clinical-grade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297680"/>
            <a:ext cx="2057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7A"/>
                </a:solidFill>
                <a:latin typeface="Helvetica Neue"/>
              </a:rPr>
              <a:t>Derm partnerships, telehealth referrals, predictive skin health.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5855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A7A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48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34095" y="-1371600"/>
            <a:ext cx="5486400" cy="5486400"/>
          </a:xfrm>
          <a:prstGeom prst="ellipse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640080"/>
            <a:ext cx="4023360" cy="4023360"/>
          </a:xfrm>
          <a:prstGeom prst="ellipse">
            <a:avLst/>
          </a:prstGeom>
          <a:solidFill>
            <a:srgbClr val="2B4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8229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0">
                <a:solidFill>
                  <a:srgbClr val="F2F8FD"/>
                </a:solidFill>
                <a:latin typeface="Georgia"/>
              </a:rPr>
              <a:t>Skincare that finally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>
                <a:solidFill>
                  <a:srgbClr val="6FA8DC"/>
                </a:solidFill>
                <a:latin typeface="Georgia"/>
              </a:rPr>
              <a:t>knows your skin.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9319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Helvetica Neue"/>
              </a:rPr>
              <a:t>LUMÉ — Your face, understood.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66344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2F8FD"/>
                </a:solidFill>
                <a:latin typeface="Helvetica Neue"/>
              </a:rPr>
              <a:t>Let's build the most personal skincare experience in the world.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9893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FA8DC"/>
                </a:solidFill>
                <a:latin typeface="Helvetica Neue"/>
              </a:rPr>
              <a:t>weilan@chariotmove.com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